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Runs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GT</c:v>
                  </c:pt>
                  <c:pt idx="1">
                    <c:v>RR</c:v>
                  </c:pt>
                  <c:pt idx="2">
                    <c:v>RCB</c:v>
                  </c:pt>
                  <c:pt idx="3">
                    <c:v>SRH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2850</c:v>
                </c:pt>
                <c:pt idx="1">
                  <c:v>2705</c:v>
                </c:pt>
                <c:pt idx="2">
                  <c:v>2620</c:v>
                </c:pt>
                <c:pt idx="3">
                  <c:v>2540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88011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STATISTICAL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9260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2026 Performance Analytics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team, batting, and bowling performance across IPL 2026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4572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303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Harikrishna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Internship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 to franchise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0" cy="4480560"/>
          </a:xfrm>
          <a:prstGeom prst="roundRect">
            <a:avLst>
              <a:gd name="adj" fmla="val 2500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009394"/>
            <a:ext cx="416052" cy="416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franchises invest heavily in players — every auction rupee needs to be justified by performance data.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57800" y="1600200"/>
            <a:ext cx="30403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1874520"/>
            <a:ext cx="548640" cy="54864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19568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260604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score the most?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572500" y="1600200"/>
            <a:ext cx="30403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846820" y="1874520"/>
            <a:ext cx="548640" cy="54864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116" y="195681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46820" y="260604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bowlers are most effective?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257800" y="3977640"/>
            <a:ext cx="30403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532120" y="4251960"/>
            <a:ext cx="548640" cy="54864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43342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498348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batters contribute the most?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8572500" y="3977640"/>
            <a:ext cx="30403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846820" y="4251960"/>
            <a:ext cx="548640" cy="54864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116" y="433425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46820" y="498348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influence winning performances?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QUESTION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the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DATASET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17,477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0916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21040" y="16459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9536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Included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653540" cy="173736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3950" y="4297680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388" y="4373118"/>
            <a:ext cx="352044" cy="3520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1792" y="5029200"/>
            <a:ext cx="150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30780" y="4023360"/>
            <a:ext cx="1653540" cy="173736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06090" y="4297680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4373118"/>
            <a:ext cx="352044" cy="3520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503932" y="5029200"/>
            <a:ext cx="150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Team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312920" y="4023360"/>
            <a:ext cx="1653540" cy="173736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88230" y="4297680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668" y="4373118"/>
            <a:ext cx="352044" cy="3520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6072" y="5029200"/>
            <a:ext cx="150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Bowler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195060" y="4023360"/>
            <a:ext cx="1653540" cy="173736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770370" y="4297680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808" y="4373118"/>
            <a:ext cx="352044" cy="3520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68212" y="5029200"/>
            <a:ext cx="150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077200" y="4023360"/>
            <a:ext cx="1653540" cy="173736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652510" y="4297680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948" y="4373118"/>
            <a:ext cx="352044" cy="3520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50352" y="5029200"/>
            <a:ext cx="150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9959340" y="4023360"/>
            <a:ext cx="1653540" cy="173736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34650" y="4297680"/>
            <a:ext cx="502920" cy="50292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4373118"/>
            <a:ext cx="352044" cy="3520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32492" y="5029200"/>
            <a:ext cx="150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ball-by-ball data for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83664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96138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64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1122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in key fields identified and treated appropriately.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4261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834640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29123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715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formatting standardized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17320" y="30632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dates normalized to a consistent format.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935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785616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863340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667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 created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40142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 Total Runs field for scoring analysis.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54456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81431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 extracted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17320" y="49651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match date into separate time components.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9554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5687568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5765292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568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performed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417320" y="59161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duplicates and out-of-range values.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Season-level KPIs from the Power BI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24688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103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086" y="21909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834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1792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7208" y="1828800"/>
            <a:ext cx="2029968" cy="24688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2103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21909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834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22,480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880360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1828800"/>
            <a:ext cx="2029968" cy="24688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15" name="Shape 11"/>
          <p:cNvSpPr/>
          <p:nvPr/>
        </p:nvSpPr>
        <p:spPr>
          <a:xfrm>
            <a:off x="5806440" y="2103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222" y="219090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2834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1,142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138928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WICKETS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24344" y="1828800"/>
            <a:ext cx="2029968" cy="24688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20" name="Shape 15"/>
          <p:cNvSpPr/>
          <p:nvPr/>
        </p:nvSpPr>
        <p:spPr>
          <a:xfrm>
            <a:off x="8065008" y="2103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0" y="219090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7496" y="2834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397496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82912" y="1828800"/>
            <a:ext cx="2029968" cy="24688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23576" y="2103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1358" y="219090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2834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9656064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BOWLERS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interactive Power BI dashboard (see Slide 9)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KPIS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Teams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 scored, IPL 2026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069080" cy="4206240"/>
          </a:xfrm>
          <a:prstGeom prst="roundRect">
            <a:avLst>
              <a:gd name="adj" fmla="val 2697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0" y="192024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994" y="2009394"/>
            <a:ext cx="416052" cy="4160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863840" y="3063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Titans consistently scored the highest runs, indicating a strong batting lineup.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Batters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run-scorers, IPL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94510" cy="420624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4415" y="192024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034415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14653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Sooryavanshi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4160520"/>
            <a:ext cx="1465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 runs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71750" y="1600200"/>
            <a:ext cx="1794510" cy="420624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7525" y="1920240"/>
            <a:ext cx="822960" cy="82296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11" name="Text 9"/>
          <p:cNvSpPr/>
          <p:nvPr/>
        </p:nvSpPr>
        <p:spPr>
          <a:xfrm>
            <a:off x="3057525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36342" y="2971800"/>
            <a:ext cx="14653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Shubman Gill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36342" y="4160520"/>
            <a:ext cx="1465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 runs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94860" y="1600200"/>
            <a:ext cx="1794510" cy="420624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80635" y="1920240"/>
            <a:ext cx="822960" cy="82296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16" name="Text 14"/>
          <p:cNvSpPr/>
          <p:nvPr/>
        </p:nvSpPr>
        <p:spPr>
          <a:xfrm>
            <a:off x="5080635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9452" y="2971800"/>
            <a:ext cx="14653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Sudharsan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9452" y="4160520"/>
            <a:ext cx="1465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 runs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17970" y="1600200"/>
            <a:ext cx="1794510" cy="420624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03745" y="1920240"/>
            <a:ext cx="822960" cy="822960"/>
          </a:xfrm>
          <a:prstGeom prst="ellipse">
            <a:avLst/>
          </a:prstGeom>
          <a:solidFill>
            <a:srgbClr val="1FA2A6"/>
          </a:solidFill>
          <a:ln/>
        </p:spPr>
      </p:sp>
      <p:sp>
        <p:nvSpPr>
          <p:cNvPr id="21" name="Text 19"/>
          <p:cNvSpPr/>
          <p:nvPr/>
        </p:nvSpPr>
        <p:spPr>
          <a:xfrm>
            <a:off x="7103745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82562" y="2971800"/>
            <a:ext cx="14653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Virat Kohli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82562" y="4160520"/>
            <a:ext cx="1465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 runs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686800" y="1600200"/>
            <a:ext cx="2926080" cy="4206240"/>
          </a:xfrm>
          <a:prstGeom prst="roundRect">
            <a:avLst>
              <a:gd name="adj" fmla="val 3125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15400" y="1920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696" y="2002536"/>
            <a:ext cx="384048" cy="38404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91540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915400" y="292608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Top-order batters contributed a significant percentage of total team runs.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PERFORMANCE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Bowlers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wicket-takers, IPL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5200" cy="2834640"/>
          </a:xfrm>
          <a:prstGeom prst="roundRect">
            <a:avLst>
              <a:gd name="adj" fmla="val 3226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5480" y="20574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208" y="21671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63240"/>
            <a:ext cx="313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Kagiso Rabada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wickets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8160" y="1691640"/>
            <a:ext cx="3505200" cy="2834640"/>
          </a:xfrm>
          <a:prstGeom prst="roundRect">
            <a:avLst>
              <a:gd name="adj" fmla="val 3226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20574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216712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1040" y="3063240"/>
            <a:ext cx="313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Jofra Archer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11040" y="374904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wickets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7680" y="1691640"/>
            <a:ext cx="3505200" cy="2834640"/>
          </a:xfrm>
          <a:prstGeom prst="roundRect">
            <a:avLst>
              <a:gd name="adj" fmla="val 3226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94520" y="20574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248" y="216712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0560" y="3063240"/>
            <a:ext cx="313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Bhuvneshwar Kumar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290560" y="3749040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wickets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02005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8920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bowlers consistently created wicket-taking opportunities.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PERFORMANCE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for decision support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00" cy="4251960"/>
          </a:xfrm>
          <a:prstGeom prst="roundRect">
            <a:avLst>
              <a:gd name="adj" fmla="val 1720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858000" cy="502920"/>
          </a:xfrm>
          <a:prstGeom prst="roundRect">
            <a:avLst>
              <a:gd name="adj" fmla="val 10909"/>
            </a:avLst>
          </a:prstGeom>
          <a:solidFill>
            <a:srgbClr val="16305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11096"/>
            <a:ext cx="347472" cy="34747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046" y="1959742"/>
            <a:ext cx="250180" cy="250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|   Season   |   Venue   |   Player Role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468880"/>
            <a:ext cx="2164080" cy="777240"/>
          </a:xfrm>
          <a:prstGeom prst="roundRect">
            <a:avLst>
              <a:gd name="adj" fmla="val 7059"/>
            </a:avLst>
          </a:prstGeom>
          <a:solidFill>
            <a:srgbClr val="16305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468880"/>
            <a:ext cx="216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Matches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24200" y="2468880"/>
            <a:ext cx="2164080" cy="777240"/>
          </a:xfrm>
          <a:prstGeom prst="roundRect">
            <a:avLst>
              <a:gd name="adj" fmla="val 7059"/>
            </a:avLst>
          </a:prstGeom>
          <a:solidFill>
            <a:srgbClr val="16305C"/>
          </a:solidFill>
          <a:ln/>
        </p:spPr>
      </p:sp>
      <p:sp>
        <p:nvSpPr>
          <p:cNvPr id="12" name="Text 9"/>
          <p:cNvSpPr/>
          <p:nvPr/>
        </p:nvSpPr>
        <p:spPr>
          <a:xfrm>
            <a:off x="3124200" y="2468880"/>
            <a:ext cx="216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22,480 Runs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71160" y="2468880"/>
            <a:ext cx="2164080" cy="777240"/>
          </a:xfrm>
          <a:prstGeom prst="roundRect">
            <a:avLst>
              <a:gd name="adj" fmla="val 7059"/>
            </a:avLst>
          </a:prstGeom>
          <a:solidFill>
            <a:srgbClr val="16305C"/>
          </a:solidFill>
          <a:ln/>
        </p:spPr>
      </p:sp>
      <p:sp>
        <p:nvSpPr>
          <p:cNvPr id="14" name="Text 11"/>
          <p:cNvSpPr/>
          <p:nvPr/>
        </p:nvSpPr>
        <p:spPr>
          <a:xfrm>
            <a:off x="5471160" y="2468880"/>
            <a:ext cx="216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1,142 Wickets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429000"/>
            <a:ext cx="3337560" cy="2194560"/>
          </a:xfrm>
          <a:prstGeom prst="roundRect">
            <a:avLst>
              <a:gd name="adj" fmla="val 2500"/>
            </a:avLst>
          </a:prstGeom>
          <a:solidFill>
            <a:srgbClr val="16305C"/>
          </a:solidFill>
          <a:ln/>
        </p:spPr>
      </p:sp>
      <p:sp>
        <p:nvSpPr>
          <p:cNvPr id="16" name="Shape 13"/>
          <p:cNvSpPr/>
          <p:nvPr/>
        </p:nvSpPr>
        <p:spPr>
          <a:xfrm>
            <a:off x="2171700" y="40233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82" y="4111142"/>
            <a:ext cx="373075" cy="3730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7240" y="5166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by Team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297680" y="3429000"/>
            <a:ext cx="3337560" cy="2194560"/>
          </a:xfrm>
          <a:prstGeom prst="roundRect">
            <a:avLst>
              <a:gd name="adj" fmla="val 2500"/>
            </a:avLst>
          </a:prstGeom>
          <a:solidFill>
            <a:srgbClr val="16305C"/>
          </a:solidFill>
          <a:ln/>
        </p:spPr>
      </p:sp>
      <p:sp>
        <p:nvSpPr>
          <p:cNvPr id="20" name="Shape 16"/>
          <p:cNvSpPr/>
          <p:nvPr/>
        </p:nvSpPr>
        <p:spPr>
          <a:xfrm>
            <a:off x="5692140" y="40233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22" y="411114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297680" y="5166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 Trend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18388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Provides</a:t>
            </a:r>
            <a:endParaRPr lang="en-US" sz="1550" dirty="0"/>
          </a:p>
        </p:txBody>
      </p:sp>
      <p:sp>
        <p:nvSpPr>
          <p:cNvPr id="24" name="Shape 19"/>
          <p:cNvSpPr/>
          <p:nvPr/>
        </p:nvSpPr>
        <p:spPr>
          <a:xfrm>
            <a:off x="8183880" y="21945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321040" y="2304288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37744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15400" y="2194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183880" y="306324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321040" y="3172968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24612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15400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183880" y="393192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1040" y="4041648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114800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15400" y="3931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8183880" y="480060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321040" y="4910328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983480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915400" y="4800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592074"/>
            <a:ext cx="416052" cy="416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Hypothesis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258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dashboarding to statistical inference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16305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that score above 180 runs win significantly more matches than teams scoring below 180.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Considered Alternatives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05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2976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691640" y="4297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scoring has a significant impact on total innings score.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05C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257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91640" y="5257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Top-order batters score significantly more runs than middle-order batters.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FORMULATION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T-Test: comparing high vs. low scoring teams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B1E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&gt; 180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avg wickets, win rate, avg runs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6305C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&lt; 180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avg wickets, win rate, avg runs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371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54480"/>
            <a:ext cx="457200" cy="4572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627632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73252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32520" y="1828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Indep. T-Test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28803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Null Hypothesis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between teams scoring above vs. below 180.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3504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28803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Alternative Hypothesis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scoring above 180 perform significantly better.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023360"/>
            <a:ext cx="6126480" cy="2240280"/>
          </a:xfrm>
          <a:prstGeom prst="roundRect">
            <a:avLst>
              <a:gd name="adj" fmla="val 3265"/>
            </a:avLst>
          </a:prstGeom>
          <a:solidFill>
            <a:srgbClr val="0B1E3D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2960" y="448056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ttest_ind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ttest_ind(group1, group2)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858000" y="4023360"/>
            <a:ext cx="4754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INTERPRETATION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132320" y="45262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3.52     p = 0.001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 &lt; 0.05 → Reject H₀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High-scoring teams perform significantly better.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hypothesis test outcome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188720"/>
        </p:xfrm>
        <a:graphic>
          <a:graphicData uri="http://schemas.openxmlformats.org/drawingml/2006/table">
            <a:tbl>
              <a:tblPr/>
              <a:tblGrid>
                <a:gridCol w="5029200"/>
                <a:gridCol w="2286000"/>
                <a:gridCol w="1645920"/>
                <a:gridCol w="2103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scoring above 180 win significantly more 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46120"/>
            <a:ext cx="11064240" cy="260604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3662172"/>
            <a:ext cx="448056" cy="4480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MEANING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68680" y="46634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scoring teams have a statistically significant advantage.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franchises should do with these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009394"/>
            <a:ext cx="416052" cy="416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019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top-order batting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acquiring consistent top-order run-scorers.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94" y="2009394"/>
            <a:ext cx="416052" cy="4160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019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aggressive Powerplay scoring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lineup suited to fast starts in the first six overs.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4249674"/>
            <a:ext cx="416052" cy="4160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wicket-taking bowlers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bowlers with proven strike-rate impact.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E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60520"/>
            <a:ext cx="594360" cy="59436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94" y="4249674"/>
            <a:ext cx="416052" cy="4160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analytics during auctions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bidding decisions in statistically validated performance data.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this analysis with machine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38404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0116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086" y="20994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models to uncover deeper performance patterns.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7208" y="1691640"/>
            <a:ext cx="2029968" cy="38404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20116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20994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Prediction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44368" y="38404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match outcomes from live in-game statistics.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1691640"/>
            <a:ext cx="2029968" cy="38404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15" name="Shape 11"/>
          <p:cNvSpPr/>
          <p:nvPr/>
        </p:nvSpPr>
        <p:spPr>
          <a:xfrm>
            <a:off x="5806440" y="20116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222" y="20994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2936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 Prediction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02936" y="38404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form based on historical trends.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24344" y="1691640"/>
            <a:ext cx="2029968" cy="38404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20" name="Shape 15"/>
          <p:cNvSpPr/>
          <p:nvPr/>
        </p:nvSpPr>
        <p:spPr>
          <a:xfrm>
            <a:off x="8065008" y="20116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0" y="20994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1504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Value Prediction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61504" y="38404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fair player valuations for auctions.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82912" y="1691640"/>
            <a:ext cx="2029968" cy="3840480"/>
          </a:xfrm>
          <a:prstGeom prst="roundRect">
            <a:avLst>
              <a:gd name="adj" fmla="val 4505"/>
            </a:avLst>
          </a:prstGeom>
          <a:solidFill>
            <a:srgbClr val="16305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23576" y="20116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1358" y="209946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0072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720072" y="38404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tracking during matches.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4" name="Shape 2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197510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9260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806440" y="4663440"/>
            <a:ext cx="54864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8463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Harikrishna  •  ApexPlanet Internship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2026 Performance Analytics</dc:title>
  <dc:subject>PptxGenJS Presentation</dc:subject>
  <dc:creator>Harikrishna</dc:creator>
  <cp:lastModifiedBy>Harikrishna</cp:lastModifiedBy>
  <cp:revision>1</cp:revision>
  <dcterms:created xsi:type="dcterms:W3CDTF">2026-07-08T14:19:02Z</dcterms:created>
  <dcterms:modified xsi:type="dcterms:W3CDTF">2026-07-08T14:19:02Z</dcterms:modified>
</cp:coreProperties>
</file>